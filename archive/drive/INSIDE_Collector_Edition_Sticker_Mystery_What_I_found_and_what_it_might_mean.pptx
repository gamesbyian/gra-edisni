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0A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2"/>
          </a:solidFill>
          <a:ln w="12700">
            <a:solidFill>
              <a:srgbClr val="0A0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334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60" kern="0" dirty="0">
                <a:solidFill>
                  <a:srgbClr val="6F7C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• COLLECTOR’S EDITION STICKER MYSTERY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14">
              <a:alpha val="65000"/>
            </a:srgbClr>
          </a:solidFill>
          <a:ln w="12700">
            <a:solidFill>
              <a:srgbClr val="07101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2344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80" kern="0" dirty="0">
                <a:solidFill>
                  <a:srgbClr val="E53935"/>
                </a:solidFill>
              </a:rPr>
              <a:t>INSIDE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85800" y="201168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4F5"/>
                </a:solidFill>
              </a:rPr>
              <a:t>Collector’s Edition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2F4F5"/>
                </a:solidFill>
              </a:rPr>
              <a:t>Sticker Mystery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What I found, and what it might mean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589788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70" kern="0" dirty="0">
                <a:solidFill>
                  <a:srgbClr val="A6B0B5"/>
                </a:solidFill>
              </a:rPr>
              <a:t>Progress on the sticker code — not the sticker hunt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THE MYSTERY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strange extra, hidden in plain sight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Collector’s Edition shipped with hundreds of numbered stickers, each carrying one foreground symbol and one of nine background images.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74904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34015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foreground symbols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dot • dash • slash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31720" y="2743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331720" y="34015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background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image families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~600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401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numbered copies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across the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4434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</a:rPr>
              <a:t>The obvious interpretation was “a long message scattered across many copies.”</a:t>
            </a:r>
            <a:endParaRPr lang="en-US" sz="1600" dirty="0"/>
          </a:p>
        </p:txBody>
      </p:sp>
      <p:pic>
        <p:nvPicPr>
          <p:cNvPr id="14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892040" y="2103120"/>
            <a:ext cx="6629400" cy="3794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COMMUNITY FOUNDATION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puzzles share the same sticker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background image puzzle is solved. The foreground-symbol puzzle is not.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BACKGROUND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36192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66544" y="301752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302666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05840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36192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066544" y="354787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355701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536192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36192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66544" y="407822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66544" y="408736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97180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Nine pieces assemble into the printer image and lead onward into the ARG.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71800" y="4434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C2B0"/>
                </a:solidFill>
              </a:rPr>
              <a:t>SOLVED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72200" y="2240280"/>
            <a:ext cx="50749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FOREGROUND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37960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68312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598664" y="2971800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2980944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37960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7068312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68312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598664" y="3502152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98664" y="3511296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537960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7068312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–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7598664" y="4032504"/>
            <a:ext cx="530352" cy="530352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98664" y="4041648"/>
            <a:ext cx="530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•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503920" y="292608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The dot, dash and slash sequence still has no established semantic decode.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03920" y="4434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935"/>
                </a:solidFill>
              </a:rPr>
              <a:t>UNSOLVED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PUBLIC RECORD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community did the hard archival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Years of owner-finding, provenance tracking, image cleanup and ARG archaeology produced a corpus large enough to analyze structurally.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7548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Numbered sticker ledger maintained publicly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Symbols classified as dot / dash / slash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Nine background image classes identified and solved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Lost, duplicate and provenance records tracked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F2F4F5"/>
                </a:solidFill>
              </a:rPr>
              <a:t>Fresh Oddheader attention is still producing leads</a:t>
            </a:r>
            <a:endParaRPr lang="en-US" sz="1800" dirty="0"/>
          </a:p>
        </p:txBody>
      </p:sp>
      <p:pic>
        <p:nvPicPr>
          <p:cNvPr id="7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943600" y="2148840"/>
            <a:ext cx="5440680" cy="3611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7220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2F4F5"/>
                </a:solidFill>
              </a:rPr>
              <a:t>This deck starts where the public record becomes an analysis problem.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THE OLD BOTTLENECK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years, the puzzle looked like a missing-data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symbols spell a long sequence, the obvious strategy is to recover more consecutive stickers.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MORE STICKERS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926080" y="2788920"/>
            <a:ext cx="17373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091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LONGER SEQUENCE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0" y="2788920"/>
            <a:ext cx="18288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PLAINTEXT?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834640" y="379476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6B0B5"/>
                </a:solidFill>
              </a:rPr>
              <a:t>That model makes every missing sticker feel fatal.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0240" y="4709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4F5"/>
                </a:solidFill>
              </a:rPr>
              <a:t>The key question became: what if the stickers already found contain enough information?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The first break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Compress the pictures until the structure has nowhere left to hide.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CORPUS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starting point is 82 physical stickers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Those 82 observations occupy 65 distinct positions after the strongest recurrence is applied.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4300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classified physical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stickers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743200"/>
            <a:ext cx="12801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709160" y="2286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70916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unique H108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residues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2743200"/>
            <a:ext cx="12801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275320" y="2286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275320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positions in one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repeating master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44348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F5"/>
                </a:solidFill>
              </a:rPr>
              <a:t>Coverage after folding: 60.2%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57400" y="51663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The dataset stops looking sparse once repeated copies are aligned.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NORMALIZATION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stickers are easier to study after they stop being pictures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observation is reduced to serial position, background class and foreground symbol, then aligned into a common coordinate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926080" cy="2926080"/>
          </a:xfrm>
          <a:prstGeom prst="roundRect">
            <a:avLst>
              <a:gd name="adj" fmla="val 156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PHYSICAL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37360" y="306324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37360" y="361188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600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F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18872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G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37360" y="416052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28600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892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number + image tile + symbol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3749040"/>
            <a:ext cx="9144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46320" y="2286000"/>
            <a:ext cx="2926080" cy="2926080"/>
          </a:xfrm>
          <a:prstGeom prst="roundRect">
            <a:avLst>
              <a:gd name="adj" fmla="val 156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NORMALIZED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97880" y="306324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46520" y="306324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07238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34924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97880" y="361188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46520" y="3611880"/>
            <a:ext cx="548640" cy="54864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362102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4924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89788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46520" y="4160520"/>
            <a:ext cx="548640" cy="54864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4169664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98348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same native 3×3 geometry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09560" y="3749040"/>
            <a:ext cx="91440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2286000"/>
            <a:ext cx="2514600" cy="292608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B0B5"/>
                </a:solidFill>
              </a:rPr>
              <a:t>H108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372600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72600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774936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74936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177272" y="3090672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77272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0579608" y="309067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79608" y="309981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372600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72600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9774936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74936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0177272" y="3493008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77272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10579608" y="3493008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579608" y="350215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9372600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72600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9774936" y="3895344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74936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72" name="Shape 70"/>
          <p:cNvSpPr/>
          <p:nvPr/>
        </p:nvSpPr>
        <p:spPr>
          <a:xfrm>
            <a:off x="10177272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177272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10579608" y="3895344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79608" y="3904488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9372600" y="4297680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372600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9774936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74936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10177272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77272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10579608" y="42976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579608" y="43068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909828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recurrence becomes visible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06A • HUMAN CLUES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the algebra, the eye was already noticing things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of the best early clues were visual: diagonal splits, one-per-column behavior, and little clumps that looked too organized to be random.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DIAGONAL SPLITS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709928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99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85416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854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09928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85416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854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709928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099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85416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854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297180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Several normalized clumps seemed to divide cleanly along a diagonal.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REPEATING SPARSITY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926080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367528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675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5843016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430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8920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367528" y="3401568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675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5843016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430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892040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367528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675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843016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430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355080" y="2971800"/>
            <a:ext cx="1188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Some frames looked less like free symbol art and more like constrained little diagrams.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92440" y="2240280"/>
            <a:ext cx="3383280" cy="2880360"/>
          </a:xfrm>
          <a:prstGeom prst="roundRect">
            <a:avLst>
              <a:gd name="adj" fmla="val 158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66760" y="2560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SAME SHAPE, NEW STICKER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549640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49640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025128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25128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500616" y="2926080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00616" y="2935224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549640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49640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025128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25128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500616" y="3401568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00616" y="3410712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8549640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025128" y="3877056"/>
            <a:ext cx="475488" cy="47548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25128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x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500616" y="3877056"/>
            <a:ext cx="475488" cy="47548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00616" y="388620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10012680" y="2971800"/>
            <a:ext cx="1143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Different physical stickers kept collapsing toward the same underlying pattern.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These visual hunches did not prove anything on their own. They were the moments that told me where to press next.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BREAKTHROUGH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108-position recurrence snaps the copies into register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Stickers separated by 108, 216, 324 or 432 positions repeatedly land on the same underlying state.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H108 residues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multiple observations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pairwise repeated-position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comparisons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19/19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296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symbol agreements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across those comparisons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5262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The recurrence is the strongest empirical result in the investigation.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00400" y="5257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What it means semantically is still open.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07A • REPEATS YOU CAN POINT 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H108 is not just a statistical abstraction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of the strongest evidence is easy to say out loud: different numbered stickers recur at the same logical residue and show the same symbol.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4028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 = 231 = 339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69080" y="2386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93208" y="23042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309360" y="224028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2404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= 362 = 470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509760" y="23865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33888" y="23042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68680" y="329184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24712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126 = 450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908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3208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309360" y="329184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= 469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0" y="343814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33888" y="3355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68680" y="434340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 = 334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69080" y="4489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2F4F5"/>
                </a:solidFill>
              </a:rPr>
              <a:t>DASH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93208" y="44074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–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4983480" cy="804672"/>
          </a:xfrm>
          <a:prstGeom prst="roundRect">
            <a:avLst>
              <a:gd name="adj" fmla="val 56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4507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= 248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09760" y="44897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E53935"/>
                </a:solidFill>
              </a:rPr>
              <a:t>SLASH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33888" y="44074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3935"/>
                </a:solidFill>
              </a:rPr>
              <a:t>/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9728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That is what “a 108-position master” means in concrete terms: distant physical stickers keep landing on the same underlying slot.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H108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108 cells can be viewed three ways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coordinate systems, not three rival theories.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240280"/>
            <a:ext cx="34747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272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3896" y="2743200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55064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56232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5856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9736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2072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63240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274320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2728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53896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655064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6232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58568" y="2944368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59736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60904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62072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63240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294436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156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52728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53896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55064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56232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58568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59736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60904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62072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63240" y="314553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64408" y="3145536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5156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5272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53896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55064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56232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5740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5856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459736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60904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862072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63240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64408" y="334670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1560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272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453896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55064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856232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57400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5856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59736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60904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62072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063240" y="3547872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64408" y="3547872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5156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5272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453896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55064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856232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5740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25856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459736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60904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62072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063240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64408" y="3749040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5156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25272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453896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55064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56232" y="3950208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5740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5856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59736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60904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862072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063240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64408" y="3950208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156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25272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453896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55064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856232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05740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5856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59736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660904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62072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63240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264408" y="4151376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5156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25272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453896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655064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56232" y="4352544"/>
            <a:ext cx="201168" cy="2011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05740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25856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59736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60904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862072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63240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64408" y="4352544"/>
            <a:ext cx="201168" cy="2011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554480" y="4846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12 × 9</a:t>
            </a:r>
            <a:endParaRPr lang="en-US" sz="2300" dirty="0"/>
          </a:p>
        </p:txBody>
      </p:sp>
      <p:sp>
        <p:nvSpPr>
          <p:cNvPr id="116" name="Text 114"/>
          <p:cNvSpPr/>
          <p:nvPr/>
        </p:nvSpPr>
        <p:spPr>
          <a:xfrm>
            <a:off x="1143000" y="5321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twelve 3×3 frames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4389120" y="2240280"/>
            <a:ext cx="347472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75488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60036" y="2926080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6519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07034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17550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8066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38581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9097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59612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70128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644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91159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01675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12190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22706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33222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43737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54253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64768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5284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85800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96315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068312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173468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278624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7383780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488936" y="2926080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75488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86003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965192" y="3031236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07034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17550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28066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38581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49097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59612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70128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80644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591159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1675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2190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22706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33222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43737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54253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64768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5284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685800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96315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068312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73468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7278624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7383780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488936" y="3031236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75488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86003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496519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070348" y="3136392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17550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28066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38581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49097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559612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70128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80644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91159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01675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12190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22706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33222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43737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654253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664768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675284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85800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96315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068312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73468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78624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383780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488936" y="3136392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75488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86003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6519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07034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17550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28066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385816" y="3241548"/>
            <a:ext cx="105156" cy="10515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49097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59612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70128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80644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91159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01675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12190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22706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633222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43737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54253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664768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675284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685800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96315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068312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173468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278624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383780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488936" y="3241548"/>
            <a:ext cx="105156" cy="10515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5257800" y="4846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4 × 27</a:t>
            </a:r>
            <a:endParaRPr lang="en-US" sz="2300" dirty="0"/>
          </a:p>
        </p:txBody>
      </p:sp>
      <p:sp>
        <p:nvSpPr>
          <p:cNvPr id="227" name="Text 225"/>
          <p:cNvSpPr/>
          <p:nvPr/>
        </p:nvSpPr>
        <p:spPr>
          <a:xfrm>
            <a:off x="4846320" y="53218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four quarters / 27 cells each</a:t>
            </a:r>
            <a:endParaRPr lang="en-US" sz="1200" dirty="0"/>
          </a:p>
        </p:txBody>
      </p:sp>
      <p:sp>
        <p:nvSpPr>
          <p:cNvPr id="228" name="Shape 226"/>
          <p:cNvSpPr/>
          <p:nvPr/>
        </p:nvSpPr>
        <p:spPr>
          <a:xfrm>
            <a:off x="8092440" y="2240280"/>
            <a:ext cx="342900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8366760" y="29260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4 × 3 × 3 × 3</a:t>
            </a:r>
            <a:endParaRPr lang="en-US" sz="2600" dirty="0"/>
          </a:p>
        </p:txBody>
      </p:sp>
      <p:sp>
        <p:nvSpPr>
          <p:cNvPr id="230" name="Text 228"/>
          <p:cNvSpPr/>
          <p:nvPr/>
        </p:nvSpPr>
        <p:spPr>
          <a:xfrm>
            <a:off x="8915400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quarter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depth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row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× column</a:t>
            </a:r>
            <a:endParaRPr lang="en-US" sz="1700" dirty="0"/>
          </a:p>
        </p:txBody>
      </p:sp>
      <p:sp>
        <p:nvSpPr>
          <p:cNvPr id="231" name="Text 229"/>
          <p:cNvSpPr/>
          <p:nvPr/>
        </p:nvSpPr>
        <p:spPr>
          <a:xfrm>
            <a:off x="8366760" y="50749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Ternary structure falls out naturally from the geometry.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EPISTEMIC GUARDRAIL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representation ≠ proven meaning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108 genuinely factors into these useful shapes. That alone does not prove Playdead meant “base three,” “four quarters,” or any particular semantics.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9576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Observed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82 stickers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81528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2424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Repeated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41448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H108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94376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05272" y="2990088"/>
            <a:ext cx="1874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Structured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native 3×3 / 4×27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07224" y="2834640"/>
            <a:ext cx="310896" cy="310896"/>
          </a:xfrm>
          <a:prstGeom prst="ellipse">
            <a:avLst/>
          </a:prstGeom>
          <a:solidFill>
            <a:srgbClr val="E53935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2990088"/>
            <a:ext cx="1874520" cy="0"/>
          </a:xfrm>
          <a:prstGeom prst="line">
            <a:avLst/>
          </a:prstGeom>
          <a:noFill/>
          <a:ln w="25400">
            <a:solidFill>
              <a:srgbClr val="5E6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04304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Mechanistic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67144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routing + selector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20072" y="2834640"/>
            <a:ext cx="310896" cy="310896"/>
          </a:xfrm>
          <a:prstGeom prst="ellipse">
            <a:avLst/>
          </a:prstGeom>
          <a:solidFill>
            <a:srgbClr val="11191E"/>
          </a:solidFill>
          <a:ln w="25400">
            <a:solidFill>
              <a:srgbClr val="5E6B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17152" y="32918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B0B5"/>
                </a:solidFill>
              </a:rPr>
              <a:t>Semantic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9992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still open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28800" y="4800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</a:rPr>
              <a:t>This deck keeps structural claims and semantic guesses on different shelves.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09A • LETTER-LIKE GHOSTS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 patterns looked like words before they looked like machinery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were valuable not because they solved the puzzle, but because they captured the exact kind of recognition a human solver would naturally have.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6984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a compact, plausible-looking fragment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876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85876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another seductive completion of the same shape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4768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tempting because it seemed to continue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5440" y="2606040"/>
            <a:ext cx="2423160" cy="1828800"/>
          </a:xfrm>
          <a:prstGeom prst="roundRect">
            <a:avLst>
              <a:gd name="adj" fmla="val 250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29260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36608" y="37033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striking, but structurally overcommitted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05840" y="5166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The real question became: which readings keep surviving as choices are removed, and which ones only survive because we keep granting ourselves another choice?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The geometry starts behaving like machinery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Not characters first. States, selectors and routes.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PRIMARY LATTICE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twelve frames compress to a remarkably small skeleton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cells are fixed. Only a few positions carry the remaining freedom.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55648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55648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68296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80944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80944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93592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06240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18888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31536" y="2514600"/>
            <a:ext cx="612648" cy="61264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44184" y="2514600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523744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143000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755648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55648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368296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68296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980944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3593592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06240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0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18888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31536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31536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044184" y="3127248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44184" y="3136392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143000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43000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755648" y="3739896"/>
            <a:ext cx="612648" cy="61264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55648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y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368296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68296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2980944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80944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3593592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93592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4206240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0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4818888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18888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5431536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31536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6044184" y="3739896"/>
            <a:ext cx="612648" cy="61264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44184" y="3749040"/>
            <a:ext cx="612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051560" y="47091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112   212   0x0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212   002   100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1y2   022   100</a:t>
            </a:r>
            <a:endParaRPr lang="en-US" sz="1900" dirty="0"/>
          </a:p>
        </p:txBody>
      </p:sp>
      <p:sp>
        <p:nvSpPr>
          <p:cNvPr id="61" name="Shape 59"/>
          <p:cNvSpPr/>
          <p:nvPr/>
        </p:nvSpPr>
        <p:spPr>
          <a:xfrm>
            <a:off x="7452360" y="2514600"/>
            <a:ext cx="3474720" cy="2651760"/>
          </a:xfrm>
          <a:prstGeom prst="roundRect">
            <a:avLst>
              <a:gd name="adj" fmla="val 1724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09560" y="292608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∈ {1,2}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∈ {0,1,2}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[x = 2]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[y = 2]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7726680" y="4617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A large visual corpus reduces to a tiny family of legal states.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Q4 SELECTOR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quarter behaves like a one-of-three depth selector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native depth stack is compatible with one slash selecting one of three possible source positions.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9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depth 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2423160"/>
            <a:ext cx="594360" cy="594360"/>
          </a:xfrm>
          <a:prstGeom prst="rect">
            <a:avLst/>
          </a:prstGeom>
          <a:solidFill>
            <a:srgbClr val="A72526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24780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/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2423160"/>
            <a:ext cx="594360" cy="594360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24780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·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423160"/>
            <a:ext cx="594360" cy="594360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4780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34838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depth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57400" y="3337560"/>
            <a:ext cx="594360" cy="594360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·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834640" y="3337560"/>
            <a:ext cx="594360" cy="594360"/>
          </a:xfrm>
          <a:prstGeom prst="rect">
            <a:avLst/>
          </a:prstGeom>
          <a:solidFill>
            <a:srgbClr val="A72526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/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611880" y="3337560"/>
            <a:ext cx="594360" cy="594360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33924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·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4400" y="4398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depth 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57400" y="4251960"/>
            <a:ext cx="594360" cy="594360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43068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·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2834640" y="4251960"/>
            <a:ext cx="594360" cy="594360"/>
          </a:xfrm>
          <a:prstGeom prst="rect">
            <a:avLst/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43068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·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3611880" y="4251960"/>
            <a:ext cx="594360" cy="594360"/>
          </a:xfrm>
          <a:prstGeom prst="rect">
            <a:avLst/>
          </a:prstGeom>
          <a:solidFill>
            <a:srgbClr val="A72526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430682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2F4F5"/>
                </a:solidFill>
              </a:rPr>
              <a:t>/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37760" y="27432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Conceptually: “pick one depth in each stack.”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937760" y="34290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6B0B5"/>
                </a:solidFill>
              </a:rPr>
              <a:t>That turns a decorative-looking slash field into a routing surface.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937760" y="44805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Current status: mechanistically productive, but originally discovered on the existing corpus, so prospective sticker checks still matter.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A SECOND CONSTRAINT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Frames 4–9 each want one dash per column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cleanest human-visible form of an earlier constant-weight observation.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43584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64208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43584" y="2980944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64208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43584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3584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64208" y="3401568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64208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06040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026664" y="2560320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26664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447288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2606040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06040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026664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26664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447288" y="2980944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47288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606040" y="3401568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026664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26664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447288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47288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260604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89120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0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4809744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230368" y="2560320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036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4389120" y="2980944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4809744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5230368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30368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4389120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4809744" y="3401568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09744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5230368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30368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438912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F6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172200" y="2560320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72200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5" name="Shape 63"/>
          <p:cNvSpPr/>
          <p:nvPr/>
        </p:nvSpPr>
        <p:spPr>
          <a:xfrm>
            <a:off x="6592824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92824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7013448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1344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6172200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6592824" y="2980944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92824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7013448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13448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5" name="Shape 73"/>
          <p:cNvSpPr/>
          <p:nvPr/>
        </p:nvSpPr>
        <p:spPr>
          <a:xfrm>
            <a:off x="6172200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7220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6592824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92824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7013448" y="3401568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013448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617220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F7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955280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55280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4" name="Shape 82"/>
          <p:cNvSpPr/>
          <p:nvPr/>
        </p:nvSpPr>
        <p:spPr>
          <a:xfrm>
            <a:off x="8375904" y="2560320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75904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6" name="Shape 84"/>
          <p:cNvSpPr/>
          <p:nvPr/>
        </p:nvSpPr>
        <p:spPr>
          <a:xfrm>
            <a:off x="8796528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9652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7955280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55280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0" name="Shape 88"/>
          <p:cNvSpPr/>
          <p:nvPr/>
        </p:nvSpPr>
        <p:spPr>
          <a:xfrm>
            <a:off x="8375904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375904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2" name="Shape 90"/>
          <p:cNvSpPr/>
          <p:nvPr/>
        </p:nvSpPr>
        <p:spPr>
          <a:xfrm>
            <a:off x="8796528" y="2980944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796528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4" name="Shape 92"/>
          <p:cNvSpPr/>
          <p:nvPr/>
        </p:nvSpPr>
        <p:spPr>
          <a:xfrm>
            <a:off x="7955280" y="3401568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5528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6" name="Shape 94"/>
          <p:cNvSpPr/>
          <p:nvPr/>
        </p:nvSpPr>
        <p:spPr>
          <a:xfrm>
            <a:off x="8375904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375904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98" name="Shape 96"/>
          <p:cNvSpPr/>
          <p:nvPr/>
        </p:nvSpPr>
        <p:spPr>
          <a:xfrm>
            <a:off x="8796528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796528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795528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F8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9738360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38360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3" name="Shape 101"/>
          <p:cNvSpPr/>
          <p:nvPr/>
        </p:nvSpPr>
        <p:spPr>
          <a:xfrm>
            <a:off x="10158984" y="256032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158984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5" name="Shape 103"/>
          <p:cNvSpPr/>
          <p:nvPr/>
        </p:nvSpPr>
        <p:spPr>
          <a:xfrm>
            <a:off x="10579608" y="2560320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0579608" y="256946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7" name="Shape 105"/>
          <p:cNvSpPr/>
          <p:nvPr/>
        </p:nvSpPr>
        <p:spPr>
          <a:xfrm>
            <a:off x="9738360" y="2980944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738360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09" name="Shape 107"/>
          <p:cNvSpPr/>
          <p:nvPr/>
        </p:nvSpPr>
        <p:spPr>
          <a:xfrm>
            <a:off x="10158984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0158984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1" name="Shape 109"/>
          <p:cNvSpPr/>
          <p:nvPr/>
        </p:nvSpPr>
        <p:spPr>
          <a:xfrm>
            <a:off x="10579608" y="2980944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579608" y="2990088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3" name="Shape 111"/>
          <p:cNvSpPr/>
          <p:nvPr/>
        </p:nvSpPr>
        <p:spPr>
          <a:xfrm>
            <a:off x="9738360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738360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5" name="Shape 113"/>
          <p:cNvSpPr/>
          <p:nvPr/>
        </p:nvSpPr>
        <p:spPr>
          <a:xfrm>
            <a:off x="10158984" y="3401568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0158984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7" name="Shape 115"/>
          <p:cNvSpPr/>
          <p:nvPr/>
        </p:nvSpPr>
        <p:spPr>
          <a:xfrm>
            <a:off x="10579608" y="3401568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0579608" y="3410712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119" name="Text 117"/>
          <p:cNvSpPr/>
          <p:nvPr/>
        </p:nvSpPr>
        <p:spPr>
          <a:xfrm>
            <a:off x="973836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F9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2011680" y="4754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Exactly one dash in each vertical column</a:t>
            </a:r>
            <a:endParaRPr lang="en-US" sz="2400" dirty="0"/>
          </a:p>
        </p:txBody>
      </p:sp>
      <p:sp>
        <p:nvSpPr>
          <p:cNvPr id="121" name="Text 119"/>
          <p:cNvSpPr/>
          <p:nvPr/>
        </p:nvSpPr>
        <p:spPr>
          <a:xfrm>
            <a:off x="2103120" y="5394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Useful as a frozen predictor. Not strong enough, by itself, to prove an authored encoding layer.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• THE CONTROL RELATION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binary requests collapse to one of three grants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x and y are reduced to “is this the high state?”, the surviving combinations obey a tiny arbitration table.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800600" cy="3337560"/>
          </a:xfrm>
          <a:prstGeom prst="roundRect">
            <a:avLst>
              <a:gd name="adj" fmla="val 1370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651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B0B5"/>
                </a:solidFill>
              </a:rPr>
              <a:t>REQUEST (X,Y)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6B0B5"/>
                </a:solidFill>
              </a:rPr>
              <a:t>GRANT 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063240" y="3227832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886200" y="3063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593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063240" y="3758184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886200" y="3593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1239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063240" y="4288536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886200" y="412394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08760" y="4654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063240" y="4818888"/>
            <a:ext cx="6400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86200" y="465429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or 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63640" y="2743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F4F5"/>
                </a:solidFill>
              </a:rPr>
              <a:t>This is exactly the shape of a priority-free two-request mutual-exclusion arbiter.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6263640" y="3977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No request → middle. One request → that side. Two requests → either side.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• REINDEX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grant is reversed through 210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simplest permutation-preserving wiring is q = 2 − p.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B0B5"/>
                </a:solidFill>
              </a:rPr>
              <a:t>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8803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404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74920" y="2999232"/>
            <a:ext cx="14173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7208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6B0B5"/>
                </a:solidFill>
              </a:rPr>
              <a:t>q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5236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3726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74520" y="425196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Among the six possible p→q bijections, 210 is the only one that preserves permutation-valued regenerated surfaces for every state.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• ROUTE TABLE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states become three permutations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Completing the Q3 rows produces an exact three-state routing shell.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54203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20240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578608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36976" y="237744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238658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51960" y="25146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transposition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54787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920240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578608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236976" y="338328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339242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251960" y="35204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F4F5"/>
                </a:solidFill>
              </a:rPr>
              <a:t>identity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455371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q2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920240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578608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236976" y="4389120"/>
            <a:ext cx="658368" cy="65836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439826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0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51960" y="45262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3-cycle / derangement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680960" y="28346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 / 012 / 120</a:t>
            </a:r>
            <a:endParaRPr lang="en-US" sz="2700" dirty="0"/>
          </a:p>
        </p:txBody>
      </p:sp>
      <p:sp>
        <p:nvSpPr>
          <p:cNvPr id="31" name="Text 29"/>
          <p:cNvSpPr/>
          <p:nvPr/>
        </p:nvSpPr>
        <p:spPr>
          <a:xfrm>
            <a:off x="7360920" y="379476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Together with the opposite 3-cycle already present elsewhere, the route layer generates S₃, the symmetry group of a triangle.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• ENDPOINT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route class is uniquely loopless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q2 / 120 has no fixed point. Reindexed back into p-order, that certificate is 100.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= 120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794760" y="251460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6151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0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57800" y="187452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975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257800" y="3200400"/>
            <a:ext cx="502920" cy="5029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F2F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330098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2F4F5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97680" y="2697480"/>
            <a:ext cx="932688" cy="-521208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0" y="2395728"/>
            <a:ext cx="0" cy="75895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30368" y="3401568"/>
            <a:ext cx="-914400" cy="-530352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84048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no node maps to itself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12344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955280" y="235915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9095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terminal certificate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4892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F5"/>
                </a:solidFill>
              </a:rPr>
              <a:t>The surprising endpoint is not readable text. It is a distinguished machine state.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16A • THE DIAGONAL KEPT COMING BACK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visual motif turned out to matter for real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first looked like a recurring visual habit later became part of the short, human-executable path to the terminal 100 state.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54680" cy="251460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EARLY VISUAL TUG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916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48840" y="29992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0083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/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456432"/>
            <a:ext cx="457200" cy="457200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/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691640" y="34564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4564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465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–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344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916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916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148840" y="3913632"/>
            <a:ext cx="457200" cy="457200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39227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•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306324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Clumps kept seeming to organize themselves around diagonals.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51960" y="3566160"/>
            <a:ext cx="731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120640" y="2331720"/>
            <a:ext cx="2788920" cy="2514600"/>
          </a:xfrm>
          <a:prstGeom prst="roundRect">
            <a:avLst>
              <a:gd name="adj" fmla="val 1818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DIRECT STACK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29260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071616" y="2926080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?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73952" y="2926080"/>
            <a:ext cx="402336" cy="402336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2935224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0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?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071616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473952" y="3328416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3337560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669280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0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071616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473952" y="3730752"/>
            <a:ext cx="402336" cy="402336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3739896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812280" y="3017520"/>
            <a:ext cx="868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2F4F5"/>
                </a:solidFill>
              </a:rPr>
              <a:t>Once frames 1, 5 and 9 are stacked through Q4, the diagonal almost empties itself.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8183880" y="3566160"/>
            <a:ext cx="7315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052560" y="2331720"/>
            <a:ext cx="2240280" cy="2514600"/>
          </a:xfrm>
          <a:prstGeom prst="roundRect">
            <a:avLst>
              <a:gd name="adj" fmla="val 204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8116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A6B0B5"/>
                </a:solidFill>
              </a:rPr>
              <a:t>FORCED RESULT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464040" y="2907792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884664" y="2907792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84664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10305288" y="2907792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05288" y="2916936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9464040" y="3328416"/>
            <a:ext cx="420624" cy="420624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9884664" y="3328416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84664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2" name="Shape 60"/>
          <p:cNvSpPr/>
          <p:nvPr/>
        </p:nvSpPr>
        <p:spPr>
          <a:xfrm>
            <a:off x="10305288" y="3328416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05288" y="3337560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9464040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4040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6" name="Shape 64"/>
          <p:cNvSpPr/>
          <p:nvPr/>
        </p:nvSpPr>
        <p:spPr>
          <a:xfrm>
            <a:off x="9884664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84664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10305288" y="3749040"/>
            <a:ext cx="420624" cy="420624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305288" y="3758184"/>
            <a:ext cx="420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9829800" y="4297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This is one of the best payoffs in the project: a vague visual hunch eventually became part of the actual mechanism.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• DIRECT CONSTRUCTION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same 100 appears without the deep algebra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only frames 1, 5 and 9 plus the Q4 selector, the diagonal stacks force a unique legal one-hot output.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7276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3113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95020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5020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0857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692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1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7648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86016" y="2651760"/>
            <a:ext cx="658368" cy="65836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86016" y="2660904"/>
            <a:ext cx="658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63840" y="2971800"/>
            <a:ext cx="8686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15400" y="246888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482328" y="246888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82328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049256" y="246888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9256" y="247802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915400" y="3035808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15400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82328" y="3035808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82328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0049256" y="3035808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49256" y="3044952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915400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9482328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482328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0049256" y="3602736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9256" y="361188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189720" y="4343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005840" y="525780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This is the short human path: registration → diagonal frames → Q4 selection → empty diagonal → one-hot legality → 100.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• CANONICALIZATION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 reuse erases state by ordinary aliasing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selector choices become irrelevant when they point to equal source bits.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3957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2395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1 /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395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minority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072384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182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7452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1 /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182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majority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858768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68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3968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0 /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968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majority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645152"/>
            <a:ext cx="4480560" cy="566928"/>
          </a:xfrm>
          <a:prstGeom prst="roundRect">
            <a:avLst>
              <a:gd name="adj" fmla="val 8065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7548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74520" y="4754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</a:rPr>
              <a:t>depths 0 /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4754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same minority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25146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</a:rPr>
              <a:t>Multiple physical states → the same terminal output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217920" y="347472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A6B0B5"/>
                </a:solidFill>
              </a:rPr>
              <a:t>The “reset” does not need a mystical checksum. It falls out of a multiplexer choosing between equal values.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17920" y="48006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That is why the mechanism can preserve a rich observer state while collapsing the causal path.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• STATE COMPRESSION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machine forgets information in stages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formal description is a typed transducer / quotient pipeline, not one homogeneous automaton.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1143000" cy="1143000"/>
          </a:xfrm>
          <a:prstGeom prst="ellipse">
            <a:avLst/>
          </a:prstGeom>
          <a:solidFill>
            <a:srgbClr val="11191E"/>
          </a:solidFill>
          <a:ln w="254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706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</a:rPr>
              <a:t>14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9436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physical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completions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3127248"/>
            <a:ext cx="8229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2560320"/>
            <a:ext cx="1143000" cy="1143000"/>
          </a:xfrm>
          <a:prstGeom prst="ellipse">
            <a:avLst/>
          </a:prstGeom>
          <a:solidFill>
            <a:srgbClr val="11191E"/>
          </a:solidFill>
          <a:ln w="254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7706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</a:rPr>
              <a:t>7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83464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after gauge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quotient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3127248"/>
            <a:ext cx="8229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03520" y="2560320"/>
            <a:ext cx="1143000" cy="1143000"/>
          </a:xfrm>
          <a:prstGeom prst="ellipse">
            <a:avLst/>
          </a:prstGeom>
          <a:solidFill>
            <a:srgbClr val="11191E"/>
          </a:solidFill>
          <a:ln w="254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27706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</a:rPr>
              <a:t>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07492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request/grant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states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3127248"/>
            <a:ext cx="82296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43800" y="2560320"/>
            <a:ext cx="1143000" cy="1143000"/>
          </a:xfrm>
          <a:prstGeom prst="ellipse">
            <a:avLst/>
          </a:prstGeom>
          <a:solidFill>
            <a:srgbClr val="11191E"/>
          </a:solidFill>
          <a:ln w="254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27706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</a:rPr>
              <a:t>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731520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routed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states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78240" y="3127248"/>
            <a:ext cx="822960" cy="0"/>
          </a:xfrm>
          <a:prstGeom prst="line">
            <a:avLst/>
          </a:prstGeom>
          <a:noFill/>
          <a:ln w="25400">
            <a:solidFill>
              <a:srgbClr val="5E6B7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2560320"/>
            <a:ext cx="1143000" cy="1143000"/>
          </a:xfrm>
          <a:prstGeom prst="ellipse">
            <a:avLst/>
          </a:prstGeom>
          <a:solidFill>
            <a:srgbClr val="A72526"/>
          </a:solidFill>
          <a:ln w="254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27706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</a:rPr>
              <a:t>1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555480" y="39319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terminal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100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71800" y="50292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→ 7 → 5 → 3 → 1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19A • THREE HUMAN-LEGIBLE STATES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part of the machinery is surprisingly easy to see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sequence 100 → 110 → 111 behaves like a tiny staircase or thermometer code for the three route states.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560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002536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569464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first / loopless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14416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81344" y="2971800"/>
            <a:ext cx="566928" cy="566928"/>
          </a:xfrm>
          <a:prstGeom prst="rect">
            <a:avLst/>
          </a:prstGeom>
          <a:solidFill>
            <a:srgbClr val="10171B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F4F5"/>
                </a:solidFill>
              </a:rPr>
              <a:t>0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8348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9204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middle state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2468880"/>
            <a:ext cx="2834640" cy="2011680"/>
          </a:xfrm>
          <a:prstGeom prst="roundRect">
            <a:avLst>
              <a:gd name="adj" fmla="val 227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59368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6296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793224" y="2971800"/>
            <a:ext cx="566928" cy="566928"/>
          </a:xfrm>
          <a:prstGeom prst="rect">
            <a:avLst/>
          </a:prstGeom>
          <a:solidFill>
            <a:srgbClr val="40191A"/>
          </a:solidFill>
          <a:ln w="8890">
            <a:solidFill>
              <a:srgbClr val="2F3B4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93224" y="298094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53935"/>
                </a:solidFill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95360" y="37947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0" y="4187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A6B0B5"/>
                </a:solidFill>
              </a:rPr>
              <a:t>third state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" y="5440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4F5"/>
                </a:solidFill>
              </a:rPr>
              <a:t>This does not magically decode the stickers, but it is the kind of small, human-readable structure that makes the machine feel less arbitrary.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• TWO INTERFACES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observer can see distinctions the machine discards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split is one of the oddest and most useful pieces of the current model.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CAUSAL PATH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4F5"/>
                </a:solidFill>
              </a:rPr>
              <a:t>14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874520" y="3017520"/>
            <a:ext cx="10058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2608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4F5"/>
                </a:solidFill>
              </a:rPr>
              <a:t>7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886200" y="3017520"/>
            <a:ext cx="10058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9377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4F5"/>
                </a:solidFill>
              </a:rPr>
              <a:t>5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5897880" y="3017520"/>
            <a:ext cx="10058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94944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F4F5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909560" y="3017520"/>
            <a:ext cx="100584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96112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935"/>
                </a:solidFill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OBSERVER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42245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2F4F5"/>
                </a:solidFill>
              </a:rPr>
              <a:t>14 distinct readouts survive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011680" y="5074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 pointer/readout acts like a ruler across physical states the transition logic treats as equivalent.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84577861c583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Is this just an ornate story?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Build the nearest cheap alternatives, then see how many survive.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• HOSTILE COMPARISON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model was put in a cage with its cousins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asking whether the mechanism looks clever, enumerate nearby low-complexity machines that could have fit the same kind of data.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control relations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with the same cardinality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54680" y="2990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p→q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bijections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0" y="2331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303520" y="2990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self-labelled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route tables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5236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452360" y="2990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single-defect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selector families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5262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Cartesian universe: 746,496 abstract machines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57400" y="5212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This is a description-length universe, not a probability model for Playdead.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• COMPRESSION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24 machines match the label-invariant fingerprint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surviving architecture is rare inside the declared sibling grammar.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746496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machines in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synthetic parent family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788920"/>
            <a:ext cx="109728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07492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7492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match the 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structural fingerprint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0" y="2788920"/>
            <a:ext cx="960120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86410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/ 31,104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6410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code-space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density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4526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F4F5"/>
                </a:solidFill>
              </a:rPr>
              <a:t>≈ 14.9 bits of specification compression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52578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Useful MDL bookkeeping. Not a p-value. Not “the odds this was intentional.”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• A CLEANER RARITY RESULT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endpoint 100 is unique in the natural selector universe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every one of nine cells choose freely among three source depths: 3⁹ = 19,683 selector fields.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19683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possible direct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selector fields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2331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3375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299008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produce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one-hot outputs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0" y="29900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distinct legal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payloads reachable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58200" y="2331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458200" y="29900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legal payload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loopless: 100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663440"/>
            <a:ext cx="854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F4F5"/>
                </a:solidFill>
              </a:rPr>
              <a:t>And once the observed Q4 scaffold is restored, every legal selector lands on 100.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• EVIDENCE ANATOMY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stickers split into witnesses and sentries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observations determine the solution family. Many others merely check that the family is not lying.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occupied H108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residues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0" y="2898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individually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load-bearing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can be deleted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without changing the family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44348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53935"/>
                </a:solidFill>
              </a:rPr>
              <a:t>But flip one of those 53 and the machine usually dies.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2377440" y="51663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They are not useless redundancy. They are consistency alarms.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• MUTATION TEST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grammar tolerates erasure better than corruption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Deleting data often expands uncertainty. Changing data usually breaks the architecture.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2080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all two-observation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flip pairs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2005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6634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kill the current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32104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can be absorbed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by some legal completion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61772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F5"/>
                </a:solidFill>
              </a:rPr>
              <a:t>That is not a formal error-correcting code claim.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52303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B0B5"/>
                </a:solidFill>
              </a:rPr>
              <a:t>The measured behavior is simpler: brittle to mutation, surprisingly tolerant of missing cells.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• HUMAN-SCALE SOLVE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Once H108 is known, the short proof needs only 20 logical cells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corpus is larger than the mechanism needs. That changes the role of future sticker hunting.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5156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observations recover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frames 1, 5 and 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033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935"/>
                </a:solidFill>
              </a:rPr>
              <a:t>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6052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6052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observations certify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Q4 + terminal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53935"/>
                </a:solidFill>
              </a:rPr>
              <a:t>=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2694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69480" y="2990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cells certify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6B0B5"/>
                </a:solidFill>
              </a:rPr>
              <a:t>short human path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4572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2F4F5"/>
                </a:solidFill>
              </a:rPr>
              <a:t>A fuller staged reconstruction uses 43 observations.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28800" y="52578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6B0B5"/>
                </a:solidFill>
              </a:rPr>
              <a:t>New stickers are increasingly valuable as tests and discriminators, not merely as missing letters.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• DIFFERENT KINDS OF FUTURE STICKER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“Best missing sticker” depends on the question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new observation can identify hidden state, choose between rival geometries, or simply try to break the architecture.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4884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state 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7 / 7 physical completions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…but only the invisible gauge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route 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27249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strongly informative about 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214884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3134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8972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input state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27249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strongly informative about x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97764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422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 &amp; 93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falsifiers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5537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predicted dot by every surviving machine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34840" y="3977640"/>
            <a:ext cx="3383280" cy="1417320"/>
          </a:xfrm>
          <a:prstGeom prst="roundRect">
            <a:avLst>
              <a:gd name="adj" fmla="val 3226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142232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39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4142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5"/>
                </a:solidFill>
              </a:rPr>
              <a:t>rival killer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17720" y="4553712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A6B0B5"/>
                </a:solidFill>
              </a:rPr>
              <a:t>T predicts dash; old R rival predicts slash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27A • A USEFUL SMELL TEST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stronger story kept removing choices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became the simplest way to tell genuine structure from seductive overreading.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53935"/>
                </a:solidFill>
              </a:rPr>
              <a:t>GOOD 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0690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new constraint explains several older observations at once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rival family gets eliminated automatically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same endpoint appears through more than one path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model gets smaller as it gets stronger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754880" cy="2743200"/>
          </a:xfrm>
          <a:prstGeom prst="roundRect">
            <a:avLst>
              <a:gd name="adj" fmla="val 1667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F4F5"/>
                </a:solidFill>
              </a:rPr>
              <a:t>WARNING 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971800"/>
            <a:ext cx="40233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reading only works after one more discretionary choice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nice-looking word appears, but nothing in the machine selects it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A pattern survives only because orientation or polarity stays free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2F4F5"/>
                </a:solidFill>
              </a:rPr>
              <a:t>The story gets prettier, but not tighter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504688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A6B0B5"/>
                </a:solidFill>
              </a:rPr>
              <a:t>That is why MIL / MIX / MISS / XML remain memorable, but the routing / selector mechanism remains the live explanation.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90E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web_context/web_image_3a299de8be00.png">    </p:cNvPr>
          <p:cNvPicPr>
            <a:picLocks noChangeAspect="1"/>
          </p:cNvPicPr>
          <p:nvPr/>
        </p:nvPicPr>
        <p:blipFill>
          <a:blip r:embed="rId1">
            <a:alphaModFix amt="8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5">
              <a:alpha val="76000"/>
            </a:srgbClr>
          </a:solidFill>
          <a:ln w="12700">
            <a:solidFill>
              <a:srgbClr val="081015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33172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2F4F5"/>
                </a:solidFill>
              </a:rPr>
              <a:t>What survived, and what did not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49808" y="34290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5DBDE"/>
                </a:solidFill>
              </a:rPr>
              <a:t>The good ideas increasingly remove choices. The seductive ones require extra choices.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49808" y="2075688"/>
            <a:ext cx="347472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• FALSE LEADS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Several attractive readings failed the “remove choices” test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They remain part of the history, but not part of the active mechanism.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XML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148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requires a state the recursive machine forbids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2491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7249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MIX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7249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one semantic completion among several; nothing selects 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30098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MISS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3009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depends on free Braille polarity; later S is not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8770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8770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621 / 648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38770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interesting production arithmetic, no transition compression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4531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453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self-indexing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4453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cute observer coincidence, not a causal rule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3935"/>
                </a:solidFill>
              </a:rPr>
              <a:t>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50292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</a:rPr>
              <a:t>direct plaintext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5029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B0B5"/>
                </a:solidFill>
              </a:rPr>
              <a:t>no earned transform from current terminal 100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57150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F4F5"/>
                </a:solidFill>
              </a:rPr>
              <a:t>The current machine keeps becoming simpler as it gets stronger.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• WHAT I THINK I KNOW NOW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sticker symbols are highly structured, and a specific mechanism fits them tightly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conclusions stop short of a semantic decode.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212080" cy="3429000"/>
          </a:xfrm>
          <a:prstGeom prst="roundRect">
            <a:avLst>
              <a:gd name="adj" fmla="val 133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60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A6B0B5"/>
                </a:solidFill>
              </a:rPr>
              <a:t>STRONGEST TAKEAWAYS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461772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H108 is a robust repeating design/template phenomenon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The 108-cell object supports a compact registered ternary grammar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Q4 can act as a one-of-three selector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The control relation behaves like a small arbiter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A three-state S₃ route shell leads to a unique loopless 100 endpoint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Selector reuse canonically erases state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120640" cy="3429000"/>
          </a:xfrm>
          <a:prstGeom prst="roundRect">
            <a:avLst>
              <a:gd name="adj" fmla="val 1333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A6B0B5"/>
                </a:solidFill>
              </a:rPr>
              <a:t>STILL OPEN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971800"/>
            <a:ext cx="452628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Whether H108 began as semantic design, production layout, or both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What terminal 100 is ultimately “for”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Whether the observer channel is intended to be read independently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Whether an external ARG artifact consumes this state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Whether any plaintext epilogue exists at all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• WHAT IT MIGHT MEAN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code may be an intermediate machine state, not a sentence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evidence supports several destination types without selecting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53935"/>
                </a:solidFill>
              </a:rPr>
              <a:t>ADDRESS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2679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locate a state, frame or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14884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53935"/>
                </a:solidFill>
              </a:rPr>
              <a:t>ROUTE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81728" y="2679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choose among paths through a larger object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3880" y="214884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53935"/>
                </a:solidFill>
              </a:rPr>
              <a:t>SELECTOR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85048" y="267919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tell another artifact what to read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79476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53935"/>
                </a:solidFill>
              </a:rPr>
              <a:t>CANONICAL 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4325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collapse equivalent physical configurations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480560" y="379476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53935"/>
                </a:solidFill>
              </a:rPr>
              <a:t>INSTRUCTION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81728" y="4325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feed a later representation change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3794760"/>
            <a:ext cx="3291840" cy="1280160"/>
          </a:xfrm>
          <a:prstGeom prst="roundRect">
            <a:avLst>
              <a:gd name="adj" fmla="val 3571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5048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53935"/>
                </a:solidFill>
              </a:rPr>
              <a:t>CERTIFICATE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5048" y="4325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2F4F5"/>
                </a:solidFill>
              </a:rPr>
              <a:t>prove that the correct structural class was reached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920240" y="5486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6B0B5"/>
                </a:solidFill>
              </a:rPr>
              <a:t>The mechanism is currently better supported than any semantic story laid on top of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• WHERE THE MYSTERY STANDS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decoded. No longer random.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investigation has moved from “what do these three marks spell?” to “what operation does this structured object perform?”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274320" cy="274320"/>
          </a:xfrm>
          <a:prstGeom prst="ellipse">
            <a:avLst/>
          </a:prstGeom>
          <a:solidFill>
            <a:srgbClr val="E53935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3154680"/>
            <a:ext cx="1298448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5"/>
                </a:solidFill>
              </a:rPr>
              <a:t>observed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58568" y="3017520"/>
            <a:ext cx="274320" cy="274320"/>
          </a:xfrm>
          <a:prstGeom prst="ellipse">
            <a:avLst/>
          </a:prstGeom>
          <a:solidFill>
            <a:srgbClr val="E53935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3154680"/>
            <a:ext cx="1298448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5"/>
                </a:solidFill>
              </a:rPr>
              <a:t>normalized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31336" y="3017520"/>
            <a:ext cx="274320" cy="274320"/>
          </a:xfrm>
          <a:prstGeom prst="ellipse">
            <a:avLst/>
          </a:prstGeom>
          <a:solidFill>
            <a:srgbClr val="E53935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05656" y="3154680"/>
            <a:ext cx="1298448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5"/>
                </a:solidFill>
              </a:rPr>
              <a:t>repeated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04104" y="3017520"/>
            <a:ext cx="274320" cy="274320"/>
          </a:xfrm>
          <a:prstGeom prst="ellipse">
            <a:avLst/>
          </a:prstGeom>
          <a:solidFill>
            <a:srgbClr val="E53935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78424" y="3154680"/>
            <a:ext cx="1298448" cy="0"/>
          </a:xfrm>
          <a:prstGeom prst="line">
            <a:avLst/>
          </a:prstGeom>
          <a:noFill/>
          <a:ln w="254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92624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5"/>
                </a:solidFill>
              </a:rPr>
              <a:t>structured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76872" y="3017520"/>
            <a:ext cx="274320" cy="274320"/>
          </a:xfrm>
          <a:prstGeom prst="ellipse">
            <a:avLst/>
          </a:prstGeom>
          <a:solidFill>
            <a:srgbClr val="E53935"/>
          </a:solidFill>
          <a:ln w="19050">
            <a:solidFill>
              <a:srgbClr val="E539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51192" y="3154680"/>
            <a:ext cx="1298448" cy="0"/>
          </a:xfrm>
          <a:prstGeom prst="line">
            <a:avLst/>
          </a:prstGeom>
          <a:noFill/>
          <a:ln w="25400">
            <a:solidFill>
              <a:srgbClr val="5E6B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4F5"/>
                </a:solidFill>
              </a:rPr>
              <a:t>mechanism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49640" y="3017520"/>
            <a:ext cx="274320" cy="2743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5E6B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3154680"/>
            <a:ext cx="1298448" cy="0"/>
          </a:xfrm>
          <a:prstGeom prst="line">
            <a:avLst/>
          </a:prstGeom>
          <a:noFill/>
          <a:ln w="25400">
            <a:solidFill>
              <a:srgbClr val="5E6B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B0B5"/>
                </a:solidFill>
              </a:rPr>
              <a:t>semantic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22408" y="3017520"/>
            <a:ext cx="274320" cy="274320"/>
          </a:xfrm>
          <a:prstGeom prst="ellipse">
            <a:avLst/>
          </a:prstGeom>
          <a:solidFill>
            <a:srgbClr val="11191E"/>
          </a:solidFill>
          <a:ln w="19050">
            <a:solidFill>
              <a:srgbClr val="5E6B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34747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6B0B5"/>
                </a:solidFill>
              </a:rPr>
              <a:t>decoded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71800" y="46634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4F5"/>
                </a:solidFill>
              </a:rPr>
              <a:t>The current stopping point is structural.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2331720" y="5349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6B0B5"/>
                </a:solidFill>
              </a:rPr>
              <a:t>A semantic epilogue may exist, but the data have not earned it yet.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• WHY THIS MATTERS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community may already have enough stickers to understand the machinery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changes the mystery from a scavenger hunt into a tractable reverse-engineering problem.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OLD QUESTION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2F4F5"/>
                </a:solidFill>
              </a:rPr>
              <a:t>How many more stickers do we need?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6B0B5"/>
                </a:solidFill>
              </a:rPr>
              <a:t>NEW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27432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53935"/>
                </a:solidFill>
              </a:rPr>
              <a:t>What can the 65 known logical cells already force?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965960" y="4983480"/>
            <a:ext cx="8275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2F4F5"/>
                </a:solidFill>
              </a:rPr>
              <a:t>Future finds still matter. Their highest value may be falsification, not completion.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80" kern="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• SOURCES &amp; SCOPE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94360" y="722376"/>
            <a:ext cx="256032" cy="0"/>
          </a:xfrm>
          <a:prstGeom prst="line">
            <a:avLst/>
          </a:prstGeom>
          <a:noFill/>
          <a:ln w="381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229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4F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presentation is built from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12648" y="15544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6B0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public-facing synthesis of the current sticker-code investigation, not a technical manual or a claim of final solution.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652760" cy="3566160"/>
          </a:xfrm>
          <a:prstGeom prst="roundRect">
            <a:avLst>
              <a:gd name="adj" fmla="val 1282"/>
            </a:avLst>
          </a:prstGeom>
          <a:solidFill>
            <a:srgbClr val="11191E"/>
          </a:solidFill>
          <a:ln w="12700">
            <a:solidFill>
              <a:srgbClr val="2F3B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514600"/>
            <a:ext cx="100126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Public foundation: twinysam/INSIDE-ARG sticker ledger, ARG chronology and community provenance work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Current corpus: 82 classified physical stickers / 65 occupied H108 residues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Canonical research docs: Investigation Plan, Results &amp; Observations, and Investigation Diary, updated 2026-09-28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Structural endpoint summarized here: Experiments 140–150 plus completed Engines A–C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Interpretive rule throughout: strong recurrence and reconstructed mechanism are separated from unproven semantic meaning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2F4F5"/>
                </a:solidFill>
              </a:rPr>
              <a:t>Figures are explanatory reconstructions, not reproductions of the full raw research notebook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58064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6B0B5"/>
                </a:solidFill>
              </a:rPr>
              <a:t>The next decisive evidence is likely to be a small number of well-placed new observations or an external clue that tells us how terminal 100 is consumed.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F7C8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Collector’s Edition Sticker Mystery — What I found, and what it might mean</dc:title>
  <dc:subject>INSIDE Collector’s Edition Sticker Mystery</dc:subject>
  <dc:creator>OpenAI</dc:creator>
  <cp:lastModifiedBy>OpenAI</cp:lastModifiedBy>
  <cp:revision>1</cp:revision>
  <dcterms:created xsi:type="dcterms:W3CDTF">2026-09-29T00:57:55Z</dcterms:created>
  <dcterms:modified xsi:type="dcterms:W3CDTF">2026-09-29T00:57:55Z</dcterms:modified>
</cp:coreProperties>
</file>